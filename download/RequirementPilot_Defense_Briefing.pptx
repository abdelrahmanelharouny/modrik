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8086" y="1071563"/>
            <a:ext cx="3885914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b="1" i="1" dirty="0">
                <a:solidFill>
                  <a:srgbClr val="E3EEF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RP</a:t>
            </a:r>
            <a:endParaRPr lang="en-US" sz="16875" dirty="0"/>
          </a:p>
        </p:txBody>
      </p:sp>
      <p:sp>
        <p:nvSpPr>
          <p:cNvPr id="3" name="Shape 1"/>
          <p:cNvSpPr/>
          <p:nvPr/>
        </p:nvSpPr>
        <p:spPr>
          <a:xfrm>
            <a:off x="3700463" y="4280669"/>
            <a:ext cx="50149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00413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1475" y="1254063"/>
            <a:ext cx="2557463" cy="6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INDEPENDENT PROJECT</a:t>
            </a:r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______</a:t>
            </a:r>
            <a:endParaRPr lang="en-US" sz="8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ANALYSIS · COMMITTEE</a:t>
            </a:r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______</a:t>
            </a:r>
            <a:endParaRPr lang="en-US" sz="800" dirty="0"/>
          </a:p>
          <a:p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BRIEFING</a:t>
            </a:r>
            <a:pPr algn="l" indent="0" marL="0">
              <a:lnSpc>
                <a:spcPts val="1015"/>
              </a:lnSpc>
              <a:buNone/>
            </a:pPr>
            <a:r>
              <a:rPr lang="en-US" sz="800" b="1" spc="43" kern="0" dirty="0">
                <a:solidFill>
                  <a:srgbClr val="FFFFFF">
                    <a:alpha val="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______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71475" y="182656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1475" y="2055168"/>
            <a:ext cx="2557463" cy="84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71"/>
              </a:lnSpc>
              <a:buNone/>
            </a:pPr>
            <a:r>
              <a:rPr lang="en-US" sz="292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Requirement</a:t>
            </a:r>
            <a:endParaRPr lang="en-US" sz="2925" dirty="0"/>
          </a:p>
          <a:p>
            <a:pPr algn="l" indent="0" marL="0">
              <a:lnSpc>
                <a:spcPts val="3071"/>
              </a:lnSpc>
              <a:buNone/>
            </a:pPr>
            <a:r>
              <a:rPr lang="en-US" sz="2925" b="1" i="1" dirty="0">
                <a:solidFill>
                  <a:srgbClr val="F7E8D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Pilot</a:t>
            </a:r>
            <a:endParaRPr lang="en-US" sz="2925" dirty="0"/>
          </a:p>
        </p:txBody>
      </p:sp>
      <p:sp>
        <p:nvSpPr>
          <p:cNvPr id="8" name="Text 5"/>
          <p:cNvSpPr/>
          <p:nvPr/>
        </p:nvSpPr>
        <p:spPr>
          <a:xfrm>
            <a:off x="371475" y="3020913"/>
            <a:ext cx="2557463" cy="937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069" dirty="0">
                <a:solidFill>
                  <a:srgbClr val="FFFFFF">
                    <a:alpha val="8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evidence-grounded, human-in-the-loop, agentic requirements engineering platform — deep analysis of the reference document dated 30 September 2026.</a:t>
            </a:r>
            <a:endParaRPr lang="en-US" sz="1069" dirty="0"/>
          </a:p>
        </p:txBody>
      </p:sp>
      <p:sp>
        <p:nvSpPr>
          <p:cNvPr id="9" name="Text 6"/>
          <p:cNvSpPr/>
          <p:nvPr/>
        </p:nvSpPr>
        <p:spPr>
          <a:xfrm>
            <a:off x="3300413" y="0"/>
            <a:ext cx="28575" cy="5143500"/>
          </a:xfrm>
          <a:prstGeom prst="rect">
            <a:avLst/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704034" y="446484"/>
            <a:ext cx="4117367" cy="382191"/>
          </a:xfrm>
          <a:prstGeom prst="roundRect">
            <a:avLst>
              <a:gd name="adj" fmla="val 2489717"/>
            </a:avLst>
          </a:prstGeom>
          <a:solidFill>
            <a:srgbClr val="F7E8DF"/>
          </a:solidFill>
          <a:ln w="7144">
            <a:solidFill>
              <a:srgbClr val="E8CDB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893344" y="55899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5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2" name="Text 9"/>
          <p:cNvSpPr/>
          <p:nvPr/>
        </p:nvSpPr>
        <p:spPr>
          <a:xfrm>
            <a:off x="4136231" y="535781"/>
            <a:ext cx="3605589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spc="32" kern="0" dirty="0">
                <a:solidFill>
                  <a:srgbClr val="C05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CONDITIONAL GO · CONSOLIDATED SCORE 4.0 / 5</a:t>
            </a:r>
            <a:endParaRPr lang="en-US" sz="1069" dirty="0"/>
          </a:p>
        </p:txBody>
      </p:sp>
      <p:sp>
        <p:nvSpPr>
          <p:cNvPr id="13" name="Text 10"/>
          <p:cNvSpPr/>
          <p:nvPr/>
        </p:nvSpPr>
        <p:spPr>
          <a:xfrm>
            <a:off x="3700463" y="4455691"/>
            <a:ext cx="1200150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briefing · October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86350" y="4455691"/>
            <a:ext cx="1657350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for the supervisor and defense committee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29438" y="4455691"/>
            <a:ext cx="1785938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Companion to the 27-page written analysis report (11 sections · 5 figures · 10 tables)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0771" y="-471487"/>
            <a:ext cx="3523229" cy="2098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0"/>
              </a:lnSpc>
              <a:buNone/>
            </a:pPr>
            <a:r>
              <a:rPr lang="en-US" sz="15300" b="1" i="1" dirty="0">
                <a:solidFill>
                  <a:srgbClr val="E3EEF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RP</a:t>
            </a:r>
            <a:endParaRPr lang="en-US" sz="15300" dirty="0"/>
          </a:p>
        </p:txBody>
      </p:sp>
      <p:sp>
        <p:nvSpPr>
          <p:cNvPr id="3" name="Text 1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08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436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771525"/>
            <a:ext cx="8636000" cy="33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C2B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Briefing roadmap</a:t>
            </a:r>
            <a:endParaRPr lang="en-US" sz="2138" dirty="0"/>
          </a:p>
        </p:txBody>
      </p:sp>
      <p:sp>
        <p:nvSpPr>
          <p:cNvPr id="6" name="Text 4"/>
          <p:cNvSpPr/>
          <p:nvPr/>
        </p:nvSpPr>
        <p:spPr>
          <a:xfrm>
            <a:off x="460772" y="1459781"/>
            <a:ext cx="8222456" cy="675084"/>
          </a:xfrm>
          <a:prstGeom prst="roundRect">
            <a:avLst>
              <a:gd name="adj" fmla="val 1410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1633017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4369" y="1633017"/>
            <a:ext cx="4143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164431" y="1606228"/>
            <a:ext cx="7315200" cy="188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Verdict at a Glance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1164431" y="1822326"/>
            <a:ext cx="698658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platform is, and how it scores across six assessment dimensions.</a:t>
            </a:r>
            <a:endParaRPr lang="en-US" sz="872" dirty="0"/>
          </a:p>
        </p:txBody>
      </p:sp>
      <p:sp>
        <p:nvSpPr>
          <p:cNvPr id="11" name="Text 9"/>
          <p:cNvSpPr/>
          <p:nvPr/>
        </p:nvSpPr>
        <p:spPr>
          <a:xfrm>
            <a:off x="8322469" y="17187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460772" y="2270596"/>
            <a:ext cx="8222456" cy="675084"/>
          </a:xfrm>
          <a:prstGeom prst="roundRect">
            <a:avLst>
              <a:gd name="adj" fmla="val 1410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4369" y="2443832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4369" y="2443832"/>
            <a:ext cx="4143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1164431" y="2417043"/>
            <a:ext cx="7315200" cy="188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Novelty &amp; Contribution</a:t>
            </a:r>
            <a:endParaRPr lang="en-US" sz="1181" dirty="0"/>
          </a:p>
        </p:txBody>
      </p:sp>
      <p:sp>
        <p:nvSpPr>
          <p:cNvPr id="16" name="Text 14"/>
          <p:cNvSpPr/>
          <p:nvPr/>
        </p:nvSpPr>
        <p:spPr>
          <a:xfrm>
            <a:off x="1164431" y="2633142"/>
            <a:ext cx="698658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 planned contributions; two defensible research cores (N2, N7), eight disciplined increments.</a:t>
            </a:r>
            <a:endParaRPr lang="en-US" sz="872" dirty="0"/>
          </a:p>
        </p:txBody>
      </p:sp>
      <p:sp>
        <p:nvSpPr>
          <p:cNvPr id="17" name="Text 15"/>
          <p:cNvSpPr/>
          <p:nvPr/>
        </p:nvSpPr>
        <p:spPr>
          <a:xfrm>
            <a:off x="8322469" y="252955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460772" y="3081412"/>
            <a:ext cx="8222456" cy="675084"/>
          </a:xfrm>
          <a:prstGeom prst="roundRect">
            <a:avLst>
              <a:gd name="adj" fmla="val 1410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4369" y="3254648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4369" y="3254648"/>
            <a:ext cx="4143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1164431" y="3227859"/>
            <a:ext cx="7424928" cy="188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Feasibility, Architecture &amp; Risk</a:t>
            </a:r>
            <a:endParaRPr lang="en-US" sz="1181" dirty="0"/>
          </a:p>
        </p:txBody>
      </p:sp>
      <p:sp>
        <p:nvSpPr>
          <p:cNvPr id="22" name="Text 20"/>
          <p:cNvSpPr/>
          <p:nvPr/>
        </p:nvSpPr>
        <p:spPr>
          <a:xfrm>
            <a:off x="1164431" y="3443957"/>
            <a:ext cx="698658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Sound, conservative design; schedule arithmetic with zero buffer; eleven risks, four newly identified.</a:t>
            </a:r>
            <a:endParaRPr lang="en-US" sz="872" dirty="0"/>
          </a:p>
        </p:txBody>
      </p:sp>
      <p:sp>
        <p:nvSpPr>
          <p:cNvPr id="23" name="Text 21"/>
          <p:cNvSpPr/>
          <p:nvPr/>
        </p:nvSpPr>
        <p:spPr>
          <a:xfrm>
            <a:off x="8322469" y="334037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460772" y="3892228"/>
            <a:ext cx="8222456" cy="675084"/>
          </a:xfrm>
          <a:prstGeom prst="roundRect">
            <a:avLst>
              <a:gd name="adj" fmla="val 1410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4369" y="4065463"/>
            <a:ext cx="328613" cy="328613"/>
          </a:xfrm>
          <a:prstGeom prst="roundRect">
            <a:avLst>
              <a:gd name="adj" fmla="val 2895648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4369" y="4065463"/>
            <a:ext cx="41433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1164431" y="4038674"/>
            <a:ext cx="7315200" cy="188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Actions &amp; Recommendation</a:t>
            </a:r>
            <a:endParaRPr lang="en-US" sz="1181" dirty="0"/>
          </a:p>
        </p:txBody>
      </p:sp>
      <p:sp>
        <p:nvSpPr>
          <p:cNvPr id="28" name="Text 26"/>
          <p:cNvSpPr/>
          <p:nvPr/>
        </p:nvSpPr>
        <p:spPr>
          <a:xfrm>
            <a:off x="1164431" y="4254773"/>
            <a:ext cx="698658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Twelve actions across three time horizons, the descope ladder, and four conditions attached to the go.</a:t>
            </a:r>
            <a:endParaRPr lang="en-US" sz="872" dirty="0"/>
          </a:p>
        </p:txBody>
      </p:sp>
      <p:sp>
        <p:nvSpPr>
          <p:cNvPr id="29" name="Text 27"/>
          <p:cNvSpPr/>
          <p:nvPr/>
        </p:nvSpPr>
        <p:spPr>
          <a:xfrm>
            <a:off x="8322469" y="415118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8634" y="2789634"/>
            <a:ext cx="4136231" cy="4136231"/>
          </a:xfrm>
          <a:prstGeom prst="ellips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504384" y="4718447"/>
            <a:ext cx="2135981" cy="2135981"/>
          </a:xfrm>
          <a:prstGeom prst="ellips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0125" y="-1143000"/>
            <a:ext cx="3714750" cy="3714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-1000125" y="-1143000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5513301" y="457200"/>
            <a:ext cx="3173499" cy="709803"/>
          </a:xfrm>
          <a:prstGeom prst="rect">
            <a:avLst/>
          </a:prstGeom>
          <a:noFill/>
          <a:ln/>
        </p:spPr>
        <p:txBody>
          <a:bodyPr wrap="none" lIns="0" tIns="0" rIns="1071563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spc="104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04</a:t>
            </a:r>
            <a:endParaRPr lang="en-US" sz="5175" dirty="0"/>
          </a:p>
        </p:txBody>
      </p:sp>
      <p:sp>
        <p:nvSpPr>
          <p:cNvPr id="9" name="Text 4"/>
          <p:cNvSpPr/>
          <p:nvPr/>
        </p:nvSpPr>
        <p:spPr>
          <a:xfrm>
            <a:off x="514350" y="175312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14350" y="1967433"/>
            <a:ext cx="6600825" cy="44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Verdict at a Glance</a:t>
            </a:r>
            <a:endParaRPr lang="en-US" sz="2925" dirty="0"/>
          </a:p>
        </p:txBody>
      </p:sp>
      <p:sp>
        <p:nvSpPr>
          <p:cNvPr id="11" name="Text 6"/>
          <p:cNvSpPr/>
          <p:nvPr/>
        </p:nvSpPr>
        <p:spPr>
          <a:xfrm>
            <a:off x="514350" y="2533129"/>
            <a:ext cx="62865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“An exceptionally well-prepared graduation project — honest about the literature, precise about its mechanisms, disciplined about evaluation.”</a:t>
            </a:r>
            <a:endParaRPr lang="en-US" sz="1125" dirty="0"/>
          </a:p>
        </p:txBody>
      </p:sp>
      <p:sp>
        <p:nvSpPr>
          <p:cNvPr id="12" name="Text 7"/>
          <p:cNvSpPr/>
          <p:nvPr/>
        </p:nvSpPr>
        <p:spPr>
          <a:xfrm>
            <a:off x="514350" y="4414537"/>
            <a:ext cx="1296144" cy="313139"/>
          </a:xfrm>
          <a:prstGeom prst="roundRect">
            <a:avLst>
              <a:gd name="adj" fmla="val 3038738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14350" y="4427339"/>
            <a:ext cx="129614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dimensions scored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1910507" y="4414537"/>
            <a:ext cx="1331975" cy="313139"/>
          </a:xfrm>
          <a:prstGeom prst="roundRect">
            <a:avLst>
              <a:gd name="adj" fmla="val 3038738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910507" y="4427339"/>
            <a:ext cx="133197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conditions attached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3346066" y="4430911"/>
            <a:ext cx="1503871" cy="280392"/>
          </a:xfrm>
          <a:prstGeom prst="roundRect">
            <a:avLst>
              <a:gd name="adj" fmla="val 3393633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342494" y="4427339"/>
            <a:ext cx="1511015" cy="327152"/>
          </a:xfrm>
          <a:prstGeom prst="rect">
            <a:avLst/>
          </a:prstGeom>
          <a:noFill/>
          <a:ln/>
        </p:spPr>
        <p:txBody>
          <a:bodyPr wrap="none" lIns="142875" tIns="64294" rIns="142875" bIns="64294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structural flaws found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4338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C2B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RequirementPilot?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57200" y="84073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69330"/>
            <a:ext cx="7215188" cy="7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Rather than generating polished requirements from a single prompt, RequirementPilot conducts structured stakeholder interviews, distinguishes explain-why questions from extraction tasks, and grounds every requirement in versioned evidence. </a:t>
            </a:r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Humans approve each transition — no requirement gap is ever silently filled by a model.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60772" y="2285107"/>
            <a:ext cx="1943100" cy="1507331"/>
          </a:xfrm>
          <a:prstGeom prst="roundRect">
            <a:avLst>
              <a:gd name="adj" fmla="val 631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2517279"/>
            <a:ext cx="1564481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388" dirty="0"/>
          </a:p>
        </p:txBody>
      </p:sp>
      <p:sp>
        <p:nvSpPr>
          <p:cNvPr id="7" name="Text 5"/>
          <p:cNvSpPr/>
          <p:nvPr/>
        </p:nvSpPr>
        <p:spPr>
          <a:xfrm>
            <a:off x="650081" y="3203079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E4F5C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3310235"/>
            <a:ext cx="1658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contributions (N1–N10)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2553891" y="2285107"/>
            <a:ext cx="1943100" cy="1507331"/>
          </a:xfrm>
          <a:prstGeom prst="roundRect">
            <a:avLst>
              <a:gd name="adj" fmla="val 631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43200" y="2517279"/>
            <a:ext cx="1564481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388" dirty="0"/>
          </a:p>
        </p:txBody>
      </p:sp>
      <p:sp>
        <p:nvSpPr>
          <p:cNvPr id="11" name="Text 9"/>
          <p:cNvSpPr/>
          <p:nvPr/>
        </p:nvSpPr>
        <p:spPr>
          <a:xfrm>
            <a:off x="2743200" y="3203079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E4F5C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43200" y="3310235"/>
            <a:ext cx="15644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questions with quantitative metrics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7009" y="2285107"/>
            <a:ext cx="1943100" cy="1507331"/>
          </a:xfrm>
          <a:prstGeom prst="roundRect">
            <a:avLst>
              <a:gd name="adj" fmla="val 631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6319" y="2517279"/>
            <a:ext cx="1564481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388" dirty="0"/>
          </a:p>
        </p:txBody>
      </p:sp>
      <p:sp>
        <p:nvSpPr>
          <p:cNvPr id="15" name="Text 13"/>
          <p:cNvSpPr/>
          <p:nvPr/>
        </p:nvSpPr>
        <p:spPr>
          <a:xfrm>
            <a:off x="4836319" y="3203079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E4F5C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36319" y="3310235"/>
            <a:ext cx="15644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recent systems benchmarked in the literature review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740128" y="2285107"/>
            <a:ext cx="1943100" cy="1507331"/>
          </a:xfrm>
          <a:prstGeom prst="roundRect">
            <a:avLst>
              <a:gd name="adj" fmla="val 631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9438" y="2517279"/>
            <a:ext cx="1564481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388" dirty="0"/>
          </a:p>
        </p:txBody>
      </p:sp>
      <p:sp>
        <p:nvSpPr>
          <p:cNvPr id="19" name="Text 17"/>
          <p:cNvSpPr/>
          <p:nvPr/>
        </p:nvSpPr>
        <p:spPr>
          <a:xfrm>
            <a:off x="6929438" y="3203079"/>
            <a:ext cx="185738" cy="21431"/>
          </a:xfrm>
          <a:prstGeom prst="roundRect">
            <a:avLst>
              <a:gd name="adj" fmla="val 88890"/>
            </a:avLst>
          </a:prstGeom>
          <a:solidFill>
            <a:srgbClr val="0E4F5C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29438" y="3310235"/>
            <a:ext cx="15644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 languages — English, Egyptian Arabic, code-switched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4352330"/>
            <a:ext cx="8222456" cy="387548"/>
          </a:xfrm>
          <a:prstGeom prst="roundRect">
            <a:avLst>
              <a:gd name="adj" fmla="val 24578"/>
            </a:avLst>
          </a:prstGeom>
          <a:solidFill>
            <a:srgbClr val="E3EEF0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081" y="44746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878681" y="4463058"/>
            <a:ext cx="7615238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of four · 6-month (24-week) graduation project window · Integration-first positioning that explicitly forbids overclaiming novelty.</a:t>
            </a:r>
            <a:endParaRPr lang="en-US" sz="87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71475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1C2B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Consolidated verdict </a:t>
            </a:r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C05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conditional go at 4.0 / 5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03622" y="830014"/>
            <a:ext cx="4248969" cy="3415159"/>
          </a:xfrm>
          <a:prstGeom prst="roundRect">
            <a:avLst>
              <a:gd name="adj" fmla="val 278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tmp/h2p-fit-1790982710686-jgn9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450628"/>
            <a:ext cx="4013225" cy="21738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16897" y="830014"/>
            <a:ext cx="3923481" cy="3415159"/>
          </a:xfrm>
          <a:prstGeom prst="roundRect">
            <a:avLst>
              <a:gd name="adj" fmla="val 278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977631" y="1485230"/>
            <a:ext cx="36020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88347" y="994990"/>
            <a:ext cx="0" cy="493812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99075" y="1102147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Strategic positioning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72816" y="1073572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294" dirty="0"/>
          </a:p>
        </p:txBody>
      </p:sp>
      <p:sp>
        <p:nvSpPr>
          <p:cNvPr id="10" name="Text 7"/>
          <p:cNvSpPr/>
          <p:nvPr/>
        </p:nvSpPr>
        <p:spPr>
          <a:xfrm>
            <a:off x="5099075" y="1273597"/>
            <a:ext cx="348056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integration-first, honestly framed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framing A–D not yet chosen</a:t>
            </a:r>
            <a:endParaRPr lang="en-US" sz="703" dirty="0"/>
          </a:p>
        </p:txBody>
      </p:sp>
      <p:sp>
        <p:nvSpPr>
          <p:cNvPr id="11" name="Shape 8"/>
          <p:cNvSpPr/>
          <p:nvPr/>
        </p:nvSpPr>
        <p:spPr>
          <a:xfrm>
            <a:off x="4977631" y="1979042"/>
            <a:ext cx="36020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8347" y="1488802"/>
            <a:ext cx="0" cy="493812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99075" y="1595958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Novelty &amp; research gap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72816" y="1567383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294" dirty="0"/>
          </a:p>
        </p:txBody>
      </p:sp>
      <p:sp>
        <p:nvSpPr>
          <p:cNvPr id="15" name="Text 12"/>
          <p:cNvSpPr/>
          <p:nvPr/>
        </p:nvSpPr>
        <p:spPr>
          <a:xfrm>
            <a:off x="5099075" y="1767408"/>
            <a:ext cx="348056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+ N7 defensible cores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self-assessed matrix, no search protocol</a:t>
            </a:r>
            <a:endParaRPr lang="en-US" sz="703" dirty="0"/>
          </a:p>
        </p:txBody>
      </p:sp>
      <p:sp>
        <p:nvSpPr>
          <p:cNvPr id="16" name="Shape 13"/>
          <p:cNvSpPr/>
          <p:nvPr/>
        </p:nvSpPr>
        <p:spPr>
          <a:xfrm>
            <a:off x="4977631" y="2602334"/>
            <a:ext cx="36020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88347" y="1982614"/>
            <a:ext cx="0" cy="623292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99075" y="2089770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72816" y="2061195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294" dirty="0"/>
          </a:p>
        </p:txBody>
      </p:sp>
      <p:sp>
        <p:nvSpPr>
          <p:cNvPr id="20" name="Text 17"/>
          <p:cNvSpPr/>
          <p:nvPr/>
        </p:nvSpPr>
        <p:spPr>
          <a:xfrm>
            <a:off x="5099075" y="2261220"/>
            <a:ext cx="348056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determinism-first, authority-aware retrieval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context, concurrency, observability unspecified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977631" y="3096146"/>
            <a:ext cx="36020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8347" y="2605906"/>
            <a:ext cx="0" cy="493812"/>
          </a:xfrm>
          <a:prstGeom prst="line">
            <a:avLst/>
          </a:prstGeom>
          <a:noFill/>
          <a:ln w="21431">
            <a:solidFill>
              <a:srgbClr val="2E7D5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99075" y="2713062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methodology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72816" y="2684487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294" dirty="0"/>
          </a:p>
        </p:txBody>
      </p:sp>
      <p:sp>
        <p:nvSpPr>
          <p:cNvPr id="25" name="Text 22"/>
          <p:cNvSpPr/>
          <p:nvPr/>
        </p:nvSpPr>
        <p:spPr>
          <a:xfrm>
            <a:off x="5099075" y="2884512"/>
            <a:ext cx="348056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strategies, not models; full ablation map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no power analysis or IAA plan</a:t>
            </a:r>
            <a:endParaRPr lang="en-US" sz="703" dirty="0"/>
          </a:p>
        </p:txBody>
      </p:sp>
      <p:sp>
        <p:nvSpPr>
          <p:cNvPr id="26" name="Shape 23"/>
          <p:cNvSpPr/>
          <p:nvPr/>
        </p:nvSpPr>
        <p:spPr>
          <a:xfrm>
            <a:off x="4977631" y="3589958"/>
            <a:ext cx="360201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88347" y="3099718"/>
            <a:ext cx="0" cy="493812"/>
          </a:xfrm>
          <a:prstGeom prst="line">
            <a:avLst/>
          </a:prstGeom>
          <a:noFill/>
          <a:ln w="21431">
            <a:solidFill>
              <a:srgbClr val="B854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99075" y="3206874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Feasibility &amp; schedule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272816" y="3178299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B854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</a:t>
            </a:r>
            <a:endParaRPr lang="en-US" sz="1294" dirty="0"/>
          </a:p>
        </p:txBody>
      </p:sp>
      <p:sp>
        <p:nvSpPr>
          <p:cNvPr id="30" name="Text 27"/>
          <p:cNvSpPr/>
          <p:nvPr/>
        </p:nvSpPr>
        <p:spPr>
          <a:xfrm>
            <a:off x="5099075" y="3378324"/>
            <a:ext cx="348056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MVP and M1 gate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26 weeks of work in 24; benchmark last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988347" y="3593529"/>
            <a:ext cx="0" cy="486668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99075" y="3700686"/>
            <a:ext cx="3209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Reference-document quality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72816" y="3672111"/>
            <a:ext cx="385167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294" dirty="0"/>
          </a:p>
        </p:txBody>
      </p:sp>
      <p:sp>
        <p:nvSpPr>
          <p:cNvPr id="34" name="Text 31"/>
          <p:cNvSpPr/>
          <p:nvPr/>
        </p:nvSpPr>
        <p:spPr>
          <a:xfrm>
            <a:off x="5099075" y="3872136"/>
            <a:ext cx="3480569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comprehensive, honest, actionable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none material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03622" y="4380905"/>
            <a:ext cx="8336756" cy="373261"/>
          </a:xfrm>
          <a:prstGeom prst="roundRect">
            <a:avLst>
              <a:gd name="adj" fmla="val 25518"/>
            </a:avLst>
          </a:prstGeom>
          <a:solidFill>
            <a:srgbClr val="F7E8DF"/>
          </a:solidFill>
          <a:ln w="7144">
            <a:solidFill>
              <a:srgbClr val="E8CDB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78644" y="449609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05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807244" y="4484489"/>
            <a:ext cx="77581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Proceed — subject to four conditions, detailed in Part 04.</a:t>
            </a:r>
            <a:endParaRPr lang="en-US" sz="87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8634" y="2789634"/>
            <a:ext cx="4136231" cy="4136231"/>
          </a:xfrm>
          <a:prstGeom prst="ellips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504384" y="4718447"/>
            <a:ext cx="2135981" cy="2135981"/>
          </a:xfrm>
          <a:prstGeom prst="ellipse">
            <a:avLst/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0125" y="-1143000"/>
            <a:ext cx="3714750" cy="3714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-1000125" y="-1143000"/>
            <a:ext cx="37147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5513301" y="457200"/>
            <a:ext cx="3173499" cy="709803"/>
          </a:xfrm>
          <a:prstGeom prst="rect">
            <a:avLst/>
          </a:prstGeom>
          <a:noFill/>
          <a:ln/>
        </p:spPr>
        <p:txBody>
          <a:bodyPr wrap="none" lIns="0" tIns="0" rIns="1071563" bIns="0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5175" b="1" spc="104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04</a:t>
            </a:r>
            <a:endParaRPr lang="en-US" sz="5175" dirty="0"/>
          </a:p>
        </p:txBody>
      </p:sp>
      <p:sp>
        <p:nvSpPr>
          <p:cNvPr id="9" name="Text 4"/>
          <p:cNvSpPr/>
          <p:nvPr/>
        </p:nvSpPr>
        <p:spPr>
          <a:xfrm>
            <a:off x="514350" y="151525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14350" y="1729569"/>
            <a:ext cx="6600825" cy="44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Novelty &amp; Contribution</a:t>
            </a:r>
            <a:endParaRPr lang="en-US" sz="2925" dirty="0"/>
          </a:p>
        </p:txBody>
      </p:sp>
      <p:sp>
        <p:nvSpPr>
          <p:cNvPr id="11" name="Text 6"/>
          <p:cNvSpPr/>
          <p:nvPr/>
        </p:nvSpPr>
        <p:spPr>
          <a:xfrm>
            <a:off x="514350" y="2295265"/>
            <a:ext cx="62865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defensible research cores — impact-aware question selection and an Arabic code-switching benchmark — carried by eight useful but individually incremental contributions.</a:t>
            </a:r>
            <a:endParaRPr lang="en-US" sz="1125" dirty="0"/>
          </a:p>
        </p:txBody>
      </p:sp>
      <p:sp>
        <p:nvSpPr>
          <p:cNvPr id="12" name="Shape 7"/>
          <p:cNvSpPr/>
          <p:nvPr/>
        </p:nvSpPr>
        <p:spPr>
          <a:xfrm>
            <a:off x="514350" y="2927486"/>
            <a:ext cx="50006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14350" y="2923915"/>
            <a:ext cx="5000625" cy="494567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FFFFFF">
                    <a:alpha val="66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Assessment basis: analyst scoring of the ten contributions against recent systems (RECOVER, LENS, OntoAgent, ReqElicitGym, ProReFiCIA, AraREQ, MAAD, MedNegotiator).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· NOVELTY &amp; CONTRIBUTION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Ten contributions positioned by impact vs. feasibility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32197" y="1025463"/>
            <a:ext cx="4550569" cy="3504456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0982715694-1030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203833"/>
            <a:ext cx="4371975" cy="31477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57788" y="1021891"/>
            <a:ext cx="3557588" cy="1061517"/>
          </a:xfrm>
          <a:prstGeom prst="roundRect">
            <a:avLst>
              <a:gd name="adj" fmla="val 89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157788" y="1025463"/>
            <a:ext cx="3557588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11803" y="1021891"/>
            <a:ext cx="0" cy="1061517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57788" y="2079836"/>
            <a:ext cx="3557588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72075" y="1021891"/>
            <a:ext cx="0" cy="1061517"/>
          </a:xfrm>
          <a:prstGeom prst="line">
            <a:avLst/>
          </a:prstGeom>
          <a:noFill/>
          <a:ln w="28575">
            <a:solidFill>
              <a:srgbClr val="C05B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14950" y="1239887"/>
            <a:ext cx="3374422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43" kern="0" dirty="0">
                <a:solidFill>
                  <a:srgbClr val="C05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PROTECT — core of the thesis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14950" y="1400621"/>
            <a:ext cx="3264694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Impact-aware question selection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N7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Arabic / code-switched benchmark — individually defensible, ablation-critical, independently publishable.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61359" y="2186992"/>
            <a:ext cx="3550444" cy="1181398"/>
          </a:xfrm>
          <a:prstGeom prst="roundRect">
            <a:avLst>
              <a:gd name="adj" fmla="val 8062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93519" y="2464929"/>
            <a:ext cx="32861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43" kern="0" dirty="0">
                <a:solidFill>
                  <a:srgbClr val="0E4F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 — lightweight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93519" y="2625663"/>
            <a:ext cx="328612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Evidence-first objects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Ambiguity branching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Uncertainty ledger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Requirement debt score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N6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Voice preservation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N10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Rationale explanations — valuable engineering, not headline research.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61359" y="3475546"/>
            <a:ext cx="3550444" cy="1054373"/>
          </a:xfrm>
          <a:prstGeom prst="roundRect">
            <a:avLst>
              <a:gd name="adj" fmla="val 9034"/>
            </a:avLst>
          </a:prstGeom>
          <a:noFill/>
          <a:ln w="7144">
            <a:solidFill>
              <a:srgbClr val="5E7280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93519" y="3767435"/>
            <a:ext cx="3395853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43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 — descope candidates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293519" y="3928170"/>
            <a:ext cx="3286125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Cross-artifact change propagation ·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Requirements time travel — Phase B material; first cuts when time compresses.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4633503"/>
            <a:ext cx="8286750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Scores are analyst estimates on a 1–5 scale; the matrix is self-assessed by the team, hence Action 2 (systematic search protocol).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· NOVELTY &amp; CONTRIBUTION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defensible core: N2 and N7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1021891"/>
            <a:ext cx="4057650" cy="3207209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28625" y="1036179"/>
            <a:ext cx="4057650" cy="0"/>
          </a:xfrm>
          <a:prstGeom prst="line">
            <a:avLst/>
          </a:prstGeom>
          <a:noFill/>
          <a:ln w="28575">
            <a:solidFill>
              <a:srgbClr val="0E4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2703" y="1021891"/>
            <a:ext cx="0" cy="3207209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8625" y="4225528"/>
            <a:ext cx="405765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197" y="1021891"/>
            <a:ext cx="0" cy="3207209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506" y="1207629"/>
            <a:ext cx="3781616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— Impact-aware question selection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621506" y="1455124"/>
            <a:ext cx="636798" cy="214027"/>
          </a:xfrm>
          <a:prstGeom prst="roundRect">
            <a:avLst>
              <a:gd name="adj" fmla="val 4445923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7010" y="1466590"/>
            <a:ext cx="64579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4.8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15455" y="1455124"/>
            <a:ext cx="760921" cy="214027"/>
          </a:xfrm>
          <a:prstGeom prst="roundRect">
            <a:avLst>
              <a:gd name="adj" fmla="val 4445923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15455" y="1466590"/>
            <a:ext cx="76092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3.4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506" y="1700547"/>
            <a:ext cx="3671888" cy="253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utility scoring decides which question the interviewer asks next — no black-box agent loop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system's central claim stands or falls with this mechanism: ablation-critical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Weakness: utility weights are currently unjustified guesses → pilot ablation on the first 20 scenarios in month 3 (Action 7)</a:t>
            </a:r>
            <a:endParaRPr lang="en-US" sz="872" dirty="0"/>
          </a:p>
        </p:txBody>
      </p:sp>
      <p:sp>
        <p:nvSpPr>
          <p:cNvPr id="15" name="Text 13"/>
          <p:cNvSpPr/>
          <p:nvPr/>
        </p:nvSpPr>
        <p:spPr>
          <a:xfrm>
            <a:off x="4657725" y="1021891"/>
            <a:ext cx="4057650" cy="3207209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7725" y="1036179"/>
            <a:ext cx="4057650" cy="0"/>
          </a:xfrm>
          <a:prstGeom prst="line">
            <a:avLst/>
          </a:prstGeom>
          <a:noFill/>
          <a:ln w="28575">
            <a:solidFill>
              <a:srgbClr val="C05B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1803" y="1021891"/>
            <a:ext cx="0" cy="3207209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4225528"/>
            <a:ext cx="405765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1297" y="1021891"/>
            <a:ext cx="0" cy="3207209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0606" y="1207629"/>
            <a:ext cx="3781615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1181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N7 — Egyptian Arabic / code-switched benchmark</a:t>
            </a:r>
            <a:endParaRPr lang="en-US" sz="1181" dirty="0"/>
          </a:p>
        </p:txBody>
      </p:sp>
      <p:sp>
        <p:nvSpPr>
          <p:cNvPr id="21" name="Text 19"/>
          <p:cNvSpPr/>
          <p:nvPr/>
        </p:nvSpPr>
        <p:spPr>
          <a:xfrm>
            <a:off x="4850606" y="1455124"/>
            <a:ext cx="636798" cy="214027"/>
          </a:xfrm>
          <a:prstGeom prst="roundRect">
            <a:avLst>
              <a:gd name="adj" fmla="val 4445923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6110" y="1466590"/>
            <a:ext cx="64579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4.6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44555" y="1455124"/>
            <a:ext cx="760921" cy="214027"/>
          </a:xfrm>
          <a:prstGeom prst="roundRect">
            <a:avLst>
              <a:gd name="adj" fmla="val 4445923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44555" y="1466590"/>
            <a:ext cx="76092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0E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3.0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50606" y="1700547"/>
            <a:ext cx="3671888" cy="2536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 requirements benchmark of its kind for Egyptian Arabic and code-switching; independently publishable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Aligned with team skills — dedicated NLP/Arabic member — and with the local context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Weakness: currently scheduled in months 5–6, too late to evaluate properly → production from month 2 (Action 6)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432197" y="4361259"/>
            <a:ext cx="8279606" cy="378619"/>
          </a:xfrm>
          <a:prstGeom prst="roundRect">
            <a:avLst>
              <a:gd name="adj" fmla="val 25157"/>
            </a:avLst>
          </a:prstGeom>
          <a:solidFill>
            <a:srgbClr val="E3EEF0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2931" y="447198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842963" y="4472880"/>
            <a:ext cx="7708106" cy="15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these two are defensible: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both are measurable, both have drawn boundaries (exact dialect, task, benchmark limits), and both match available skills and data.</a:t>
            </a:r>
            <a:endParaRPr lang="en-US" sz="8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39964" y="3306217"/>
            <a:ext cx="4404036" cy="183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7"/>
              </a:lnSpc>
              <a:buNone/>
            </a:pPr>
            <a:r>
              <a:rPr lang="en-US" sz="19125" b="1" spc="-382" kern="0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125" dirty="0"/>
          </a:p>
        </p:txBody>
      </p:sp>
      <p:sp>
        <p:nvSpPr>
          <p:cNvPr id="5" name="Text 1"/>
          <p:cNvSpPr/>
          <p:nvPr/>
        </p:nvSpPr>
        <p:spPr>
          <a:xfrm>
            <a:off x="457200" y="457200"/>
            <a:ext cx="8229600" cy="7144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28650" y="1309315"/>
            <a:ext cx="7886700" cy="648081"/>
          </a:xfrm>
          <a:prstGeom prst="rect">
            <a:avLst/>
          </a:prstGeom>
          <a:noFill/>
          <a:ln/>
        </p:spPr>
        <p:txBody>
          <a:bodyPr wrap="none" lIns="0" tIns="0" rIns="1000125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725" b="1" spc="47" kern="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04</a:t>
            </a:r>
            <a:endParaRPr lang="en-US" sz="4725" dirty="0"/>
          </a:p>
        </p:txBody>
      </p:sp>
      <p:sp>
        <p:nvSpPr>
          <p:cNvPr id="7" name="Text 3"/>
          <p:cNvSpPr/>
          <p:nvPr/>
        </p:nvSpPr>
        <p:spPr>
          <a:xfrm>
            <a:off x="628650" y="212370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8650" y="2323728"/>
            <a:ext cx="8515350" cy="44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spc="-15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Feasibility, Architecture &amp; Risk</a:t>
            </a:r>
            <a:endParaRPr lang="en-US" sz="2925" dirty="0"/>
          </a:p>
        </p:txBody>
      </p:sp>
      <p:sp>
        <p:nvSpPr>
          <p:cNvPr id="9" name="Text 5"/>
          <p:cNvSpPr/>
          <p:nvPr/>
        </p:nvSpPr>
        <p:spPr>
          <a:xfrm>
            <a:off x="628650" y="2875136"/>
            <a:ext cx="6572250" cy="478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Sound, deliberately conservative engineering — set against schedule arithmetic with zero buffer and a risk cluster concentrated in execution, not in the idea.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628650" y="3562422"/>
            <a:ext cx="1134517" cy="284564"/>
          </a:xfrm>
          <a:prstGeom prst="roundRect">
            <a:avLst>
              <a:gd name="adj" fmla="val 3343879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8650" y="3575224"/>
            <a:ext cx="113451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4.0 / 5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848892" y="3562422"/>
            <a:ext cx="995102" cy="284564"/>
          </a:xfrm>
          <a:prstGeom prst="roundRect">
            <a:avLst>
              <a:gd name="adj" fmla="val 3343879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848892" y="3575224"/>
            <a:ext cx="99510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3.0 / 5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929719" y="3562422"/>
            <a:ext cx="1022003" cy="284564"/>
          </a:xfrm>
          <a:prstGeom prst="roundRect">
            <a:avLst>
              <a:gd name="adj" fmla="val 3343879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929719" y="3575224"/>
            <a:ext cx="1022003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risks mapped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03 · FEASIBILITY, ARCHITECTURE &amp;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Architecture: conservative by design — and right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32197" y="1025463"/>
            <a:ext cx="3970474" cy="371441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0982718712-xdi16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480989"/>
            <a:ext cx="3791880" cy="2803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81265" y="1025463"/>
            <a:ext cx="4130539" cy="2775905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741999" y="11647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7D5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8" name="Text 5"/>
          <p:cNvSpPr/>
          <p:nvPr/>
        </p:nvSpPr>
        <p:spPr>
          <a:xfrm>
            <a:off x="4970599" y="1157622"/>
            <a:ext cx="35804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strong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4741999" y="1357647"/>
            <a:ext cx="3809070" cy="248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✓Explicit state machine instead of a heavyweight agent framework — no hidden non-determinism in a system whose thesis is determinism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✓Evidence is a first-class object: 22-entity model, event-style requirement versioning (never overwrite; author, source, reason, timestamp stored)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✓Authority-aware retrieval: approved policies (authority 1.00 / 0.95) cannot be silently overridden by AI inference (0.3×)</a:t>
            </a:r>
            <a:endParaRPr lang="en-US" sz="872" dirty="0"/>
          </a:p>
          <a:p>
            <a:pPr algn="l" marL="342900" indent="-342900">
              <a:lnSpc>
                <a:spcPts val="1308"/>
              </a:lnSpc>
              <a:buSzPct val="100000"/>
              <a:buChar char="•"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✓Eight hallucination controls wrapped around the human approval gate.</a:t>
            </a:r>
            <a:endParaRPr lang="en-US" sz="872" dirty="0"/>
          </a:p>
        </p:txBody>
      </p:sp>
      <p:sp>
        <p:nvSpPr>
          <p:cNvPr id="10" name="Text 7"/>
          <p:cNvSpPr/>
          <p:nvPr/>
        </p:nvSpPr>
        <p:spPr>
          <a:xfrm>
            <a:off x="4581265" y="3908524"/>
            <a:ext cx="4130539" cy="831354"/>
          </a:xfrm>
          <a:prstGeom prst="roundRect">
            <a:avLst>
              <a:gd name="adj" fmla="val 11457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41999" y="40478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8545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547" dirty="0"/>
          </a:p>
        </p:txBody>
      </p:sp>
      <p:sp>
        <p:nvSpPr>
          <p:cNvPr id="12" name="Text 9"/>
          <p:cNvSpPr/>
          <p:nvPr/>
        </p:nvSpPr>
        <p:spPr>
          <a:xfrm>
            <a:off x="4970599" y="4040684"/>
            <a:ext cx="358047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unspecified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4741999" y="4297859"/>
            <a:ext cx="92869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B8545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4906305" y="4297859"/>
            <a:ext cx="36447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 management, concurrency, and observability are not yet designed → run graph-query and infrastructure spikes before Phase 3 (Action 5).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7260" y="-300037"/>
            <a:ext cx="3516740" cy="162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813" b="1" dirty="0">
                <a:solidFill>
                  <a:srgbClr val="0E4F5C">
                    <a:alpha val="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1813" dirty="0"/>
          </a:p>
        </p:txBody>
      </p:sp>
      <p:sp>
        <p:nvSpPr>
          <p:cNvPr id="3" name="Text 1"/>
          <p:cNvSpPr/>
          <p:nvPr/>
        </p:nvSpPr>
        <p:spPr>
          <a:xfrm>
            <a:off x="428625" y="40005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03 · FEASIBILITY, ARCHITECTURE &amp; RISK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28625" y="575072"/>
            <a:ext cx="8636000" cy="29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5"/>
              </a:lnSpc>
              <a:buNone/>
            </a:pPr>
            <a:r>
              <a:rPr lang="en-US" sz="1856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Evaluation methodology — the strongest dimension </a:t>
            </a:r>
            <a:pPr algn="l" indent="0" marL="0">
              <a:lnSpc>
                <a:spcPts val="2135"/>
              </a:lnSpc>
              <a:buNone/>
            </a:pPr>
            <a:r>
              <a:rPr lang="en-US" sz="1856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(4.5 / 5)</a:t>
            </a:r>
            <a:endParaRPr lang="en-US" sz="1856" dirty="0"/>
          </a:p>
        </p:txBody>
      </p:sp>
      <p:sp>
        <p:nvSpPr>
          <p:cNvPr id="5" name="Text 3"/>
          <p:cNvSpPr/>
          <p:nvPr/>
        </p:nvSpPr>
        <p:spPr>
          <a:xfrm>
            <a:off x="432197" y="1634133"/>
            <a:ext cx="2659819" cy="1824670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219" y="1794867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8115" y="182576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17" dirty="0"/>
          </a:p>
        </p:txBody>
      </p:sp>
      <p:sp>
        <p:nvSpPr>
          <p:cNvPr id="8" name="Text 6"/>
          <p:cNvSpPr/>
          <p:nvPr/>
        </p:nvSpPr>
        <p:spPr>
          <a:xfrm>
            <a:off x="607219" y="2194917"/>
            <a:ext cx="23097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research questions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7219" y="2459236"/>
            <a:ext cx="2309775" cy="8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RQ carries named metrics — extraction accuracy (RQ1), utility of asked questions, conflict-detection quality, trace-link precision — and the design evaluates interview strategies, not model impressions.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3242035" y="1634133"/>
            <a:ext cx="2659819" cy="1824670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7057" y="1794867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47953" y="182576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17" dirty="0"/>
          </a:p>
        </p:txBody>
      </p:sp>
      <p:sp>
        <p:nvSpPr>
          <p:cNvPr id="13" name="Text 11"/>
          <p:cNvSpPr/>
          <p:nvPr/>
        </p:nvSpPr>
        <p:spPr>
          <a:xfrm>
            <a:off x="3417057" y="2194917"/>
            <a:ext cx="23097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Disciplined baselines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417057" y="2459236"/>
            <a:ext cx="2309775" cy="8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interview strategies — single-shot generation, unrestricted conversational LLM, ontology-guided interviewer, impact-aware planner — crossed with a four-language matrix, plus three artifact-validation baselines.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6051872" y="1634133"/>
            <a:ext cx="2659931" cy="1824670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6894" y="1794867"/>
            <a:ext cx="300038" cy="300038"/>
          </a:xfrm>
          <a:prstGeom prst="roundRect">
            <a:avLst>
              <a:gd name="adj" fmla="val 31746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57791" y="1825764"/>
            <a:ext cx="23824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1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17" dirty="0"/>
          </a:p>
        </p:txBody>
      </p:sp>
      <p:sp>
        <p:nvSpPr>
          <p:cNvPr id="18" name="Text 16"/>
          <p:cNvSpPr/>
          <p:nvPr/>
        </p:nvSpPr>
        <p:spPr>
          <a:xfrm>
            <a:off x="6226894" y="2194917"/>
            <a:ext cx="23098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Layered data strategy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6226894" y="2459236"/>
            <a:ext cx="2309887" cy="838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corpora first: PURE (</a:t>
            </a:r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documents, 34,268 sentences</a:t>
            </a:r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PROMISE and SWARD where licensing permits; ReqElicitGym (</a:t>
            </a:r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scenarios</a:t>
            </a:r>
            <a:pPr algn="l" indent="0" marL="0">
              <a:lnSpc>
                <a:spcPts val="1321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for baseline runs; real conversations only where permissions allow.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432197" y="4193381"/>
            <a:ext cx="8279606" cy="546497"/>
          </a:xfrm>
          <a:prstGeom prst="roundRect">
            <a:avLst>
              <a:gd name="adj" fmla="val 17429"/>
            </a:avLst>
          </a:prstGeom>
          <a:solidFill>
            <a:srgbClr val="F7E8DF"/>
          </a:solidFill>
          <a:ln w="7144">
            <a:solidFill>
              <a:srgbClr val="E8CDB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2931" y="438090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C05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864394" y="4311253"/>
            <a:ext cx="7686675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before any data collection: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statistical power analysis, random seeds, significance testing plan, and an inter-annotator agreement threshold → fixed by Action 3 (weeks 1–2).</a:t>
            </a:r>
            <a:endParaRPr lang="en-US" sz="81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863600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SECTION 03 · FEASIBILITY, ARCHITECTURE &amp;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28625" y="575072"/>
            <a:ext cx="8636000" cy="32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4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Schedule feasibility — the weakest dimension </a:t>
            </a:r>
            <a:pPr algn="l" indent="0" marL="0">
              <a:lnSpc>
                <a:spcPts val="2394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(3.0 / 5)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32197" y="1025463"/>
            <a:ext cx="4550569" cy="3714415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0982719037-thg9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591940"/>
            <a:ext cx="4371975" cy="2581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1359" y="1025463"/>
            <a:ext cx="3550444" cy="858924"/>
          </a:xfrm>
          <a:prstGeom prst="roundRect">
            <a:avLst>
              <a:gd name="adj" fmla="val 1108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279231" y="1362001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79231" y="1362001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57838" y="1310208"/>
            <a:ext cx="30360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Arithmetic: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nine phases sum to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18–26 weeks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against a 24-week window — zero buffer at maximum durations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61359" y="1977256"/>
            <a:ext cx="3550444" cy="859036"/>
          </a:xfrm>
          <a:prstGeom prst="roundRect">
            <a:avLst>
              <a:gd name="adj" fmla="val 11088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79231" y="2313905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79231" y="2313905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57838" y="2189783"/>
            <a:ext cx="30360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Composition: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two most valuable contributions are the two most expensive — planner ablations need Phase 3 stable; the Arabic benchmark sits in months 5–6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161359" y="2929161"/>
            <a:ext cx="3550444" cy="858924"/>
          </a:xfrm>
          <a:prstGeom prst="roundRect">
            <a:avLst>
              <a:gd name="adj" fmla="val 1108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79231" y="3265698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79231" y="3265698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57838" y="3213906"/>
            <a:ext cx="30360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Concentration: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question planner is a single-owner critical path (Member 1) — co-assign in month 3 (Action 8)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61359" y="3880954"/>
            <a:ext cx="3550444" cy="858924"/>
          </a:xfrm>
          <a:prstGeom prst="roundRect">
            <a:avLst>
              <a:gd name="adj" fmla="val 11089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279231" y="4217491"/>
            <a:ext cx="185738" cy="185738"/>
          </a:xfrm>
          <a:prstGeom prst="roundRect">
            <a:avLst>
              <a:gd name="adj" fmla="val 512306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79231" y="4217491"/>
            <a:ext cx="2321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57838" y="4093369"/>
            <a:ext cx="303609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Team: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sensible four-way split (LLM/interview · NLP/Arabic/data · backend/graph · frontend/QA), but execution-side risk is underweighted in the document.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514350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Risk register — 11 risks; four identified by this analysis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32197" y="958602"/>
            <a:ext cx="3804717" cy="33334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0982716887-hzdv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303288"/>
            <a:ext cx="3626123" cy="26439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15507" y="958602"/>
            <a:ext cx="4296296" cy="333345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419079" y="962174"/>
            <a:ext cx="4289152" cy="294680"/>
          </a:xfrm>
          <a:prstGeom prst="rect">
            <a:avLst/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419079" y="1253282"/>
            <a:ext cx="4289152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47667" y="1076474"/>
            <a:ext cx="18581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RANKED BY EXPOSURE (P × S)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419079" y="1860947"/>
            <a:ext cx="4289152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47667" y="1471389"/>
            <a:ext cx="342900" cy="171450"/>
          </a:xfrm>
          <a:prstGeom prst="roundRect">
            <a:avLst>
              <a:gd name="adj" fmla="val 33333"/>
            </a:avLst>
          </a:prstGeom>
          <a:solidFill>
            <a:srgbClr val="C49B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547667" y="1471389"/>
            <a:ext cx="385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76292" y="1407096"/>
            <a:ext cx="308074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produced too late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8004275" y="1407096"/>
            <a:ext cx="67099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× 4.35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4976292" y="1582117"/>
            <a:ext cx="36033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scenario production month 2; evaluate on the first 50 </a:t>
            </a:r>
            <a:pPr algn="l" indent="0" marL="0">
              <a:lnSpc>
                <a:spcPts val="984"/>
              </a:lnSpc>
              <a:buNone/>
            </a:pPr>
            <a:r>
              <a:rPr lang="en-US" sz="703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(NEW)</a:t>
            </a:r>
            <a:endParaRPr lang="en-US" sz="703" dirty="0"/>
          </a:p>
        </p:txBody>
      </p:sp>
      <p:sp>
        <p:nvSpPr>
          <p:cNvPr id="16" name="Shape 13"/>
          <p:cNvSpPr/>
          <p:nvPr/>
        </p:nvSpPr>
        <p:spPr>
          <a:xfrm>
            <a:off x="4419079" y="2468724"/>
            <a:ext cx="4289152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47667" y="2079054"/>
            <a:ext cx="342900" cy="171450"/>
          </a:xfrm>
          <a:prstGeom prst="roundRect">
            <a:avLst>
              <a:gd name="adj" fmla="val 3333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47667" y="2079054"/>
            <a:ext cx="385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76292" y="2014761"/>
            <a:ext cx="314034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Scope explosion across 10 contributions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8073275" y="2014761"/>
            <a:ext cx="59259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× 4.0</a:t>
            </a:r>
            <a:endParaRPr lang="en-US" sz="844" dirty="0"/>
          </a:p>
        </p:txBody>
      </p:sp>
      <p:sp>
        <p:nvSpPr>
          <p:cNvPr id="21" name="Text 18"/>
          <p:cNvSpPr/>
          <p:nvPr/>
        </p:nvSpPr>
        <p:spPr>
          <a:xfrm>
            <a:off x="4976292" y="2189783"/>
            <a:ext cx="36033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freeze MVP and RQ set; enforce the descope ladder </a:t>
            </a:r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(doc)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19079" y="3076501"/>
            <a:ext cx="4289152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7667" y="2686831"/>
            <a:ext cx="342900" cy="171450"/>
          </a:xfrm>
          <a:prstGeom prst="roundRect">
            <a:avLst>
              <a:gd name="adj" fmla="val 33333"/>
            </a:avLst>
          </a:prstGeom>
          <a:solidFill>
            <a:srgbClr val="C49B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47667" y="2686831"/>
            <a:ext cx="385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976292" y="2622538"/>
            <a:ext cx="314034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Annotation quality, no IAA protocol</a:t>
            </a:r>
            <a:endParaRPr lang="en-US" sz="844" dirty="0"/>
          </a:p>
        </p:txBody>
      </p:sp>
      <p:sp>
        <p:nvSpPr>
          <p:cNvPr id="26" name="Text 23"/>
          <p:cNvSpPr/>
          <p:nvPr/>
        </p:nvSpPr>
        <p:spPr>
          <a:xfrm>
            <a:off x="8073275" y="2622538"/>
            <a:ext cx="59259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× 3.1</a:t>
            </a:r>
            <a:endParaRPr lang="en-US" sz="844" dirty="0"/>
          </a:p>
        </p:txBody>
      </p:sp>
      <p:sp>
        <p:nvSpPr>
          <p:cNvPr id="27" name="Text 24"/>
          <p:cNvSpPr/>
          <p:nvPr/>
        </p:nvSpPr>
        <p:spPr>
          <a:xfrm>
            <a:off x="4976292" y="2797559"/>
            <a:ext cx="36033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703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written guidelines, double annotation on a sample, report kappa </a:t>
            </a:r>
            <a:pPr algn="l" indent="0" marL="0">
              <a:lnSpc>
                <a:spcPts val="984"/>
              </a:lnSpc>
              <a:buNone/>
            </a:pPr>
            <a:r>
              <a:rPr lang="en-US" sz="703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(NEW)</a:t>
            </a:r>
            <a:endParaRPr lang="en-US" sz="703" dirty="0"/>
          </a:p>
        </p:txBody>
      </p:sp>
      <p:sp>
        <p:nvSpPr>
          <p:cNvPr id="28" name="Shape 25"/>
          <p:cNvSpPr/>
          <p:nvPr/>
        </p:nvSpPr>
        <p:spPr>
          <a:xfrm>
            <a:off x="4419079" y="3684277"/>
            <a:ext cx="4289152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47667" y="3294608"/>
            <a:ext cx="342900" cy="171450"/>
          </a:xfrm>
          <a:prstGeom prst="roundRect">
            <a:avLst>
              <a:gd name="adj" fmla="val 33333"/>
            </a:avLst>
          </a:prstGeom>
          <a:solidFill>
            <a:srgbClr val="C49B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47667" y="3294608"/>
            <a:ext cx="385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976292" y="3230314"/>
            <a:ext cx="314034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Evaluator recruitment fails in month 6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8073275" y="3230314"/>
            <a:ext cx="59259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× 3.0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4976292" y="3405336"/>
            <a:ext cx="36033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 evaluators in month 2; pay or course credit </a:t>
            </a:r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(NEW)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547667" y="3902385"/>
            <a:ext cx="342900" cy="171450"/>
          </a:xfrm>
          <a:prstGeom prst="roundRect">
            <a:avLst>
              <a:gd name="adj" fmla="val 33333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547667" y="3902385"/>
            <a:ext cx="385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976292" y="3838091"/>
            <a:ext cx="314034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Hallucinated requirements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8137569" y="3838091"/>
            <a:ext cx="592595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9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× 5.0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4976292" y="4013113"/>
            <a:ext cx="3603352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evidence-first design, validation rules, human approval </a:t>
            </a:r>
            <a:pPr algn="l" indent="0" marL="0">
              <a:lnSpc>
                <a:spcPts val="984"/>
              </a:lnSpc>
              <a:buNone/>
            </a:pPr>
            <a:r>
              <a:rPr lang="en-US" sz="800" b="1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(doc)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28625" y="4399211"/>
            <a:ext cx="828675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8589" y="4502795"/>
            <a:ext cx="71438" cy="71438"/>
          </a:xfrm>
          <a:prstGeom prst="roundRect">
            <a:avLst>
              <a:gd name="adj" fmla="val 2666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3093132" y="4502795"/>
            <a:ext cx="71438" cy="71438"/>
          </a:xfrm>
          <a:prstGeom prst="roundRect">
            <a:avLst>
              <a:gd name="adj" fmla="val 26666"/>
            </a:avLst>
          </a:prstGeom>
          <a:solidFill>
            <a:srgbClr val="C49B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28625" y="4395639"/>
            <a:ext cx="8286750" cy="410952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Legend: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teal = stated in the reference document (R1–R7); tan = identified by this analysis (R8–R11).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watch R11 ethics/privacy (2.0 × 4.3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):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request Track C permissions in week 1; Track A stands alone.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480903" y="3257550"/>
            <a:ext cx="4663097" cy="188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250" dirty="0"/>
          </a:p>
        </p:txBody>
      </p:sp>
      <p:sp>
        <p:nvSpPr>
          <p:cNvPr id="5" name="Text 1"/>
          <p:cNvSpPr/>
          <p:nvPr/>
        </p:nvSpPr>
        <p:spPr>
          <a:xfrm>
            <a:off x="457200" y="1551756"/>
            <a:ext cx="8229600" cy="462915"/>
          </a:xfrm>
          <a:prstGeom prst="rect">
            <a:avLst/>
          </a:prstGeom>
          <a:noFill/>
          <a:ln/>
        </p:spPr>
        <p:txBody>
          <a:bodyPr wrap="none" lIns="0" tIns="0" rIns="785813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3375" b="1" dirty="0">
                <a:solidFill>
                  <a:srgbClr val="FFFFFF">
                    <a:alpha val="3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04</a:t>
            </a:r>
            <a:endParaRPr lang="en-US" sz="3375" dirty="0"/>
          </a:p>
        </p:txBody>
      </p:sp>
      <p:sp>
        <p:nvSpPr>
          <p:cNvPr id="6" name="Text 2"/>
          <p:cNvSpPr/>
          <p:nvPr/>
        </p:nvSpPr>
        <p:spPr>
          <a:xfrm>
            <a:off x="457200" y="218040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2351856"/>
            <a:ext cx="8636000" cy="44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Actions &amp; Recommendation</a:t>
            </a:r>
            <a:endParaRPr lang="en-US" sz="2925" dirty="0"/>
          </a:p>
        </p:txBody>
      </p:sp>
      <p:sp>
        <p:nvSpPr>
          <p:cNvPr id="8" name="Text 4"/>
          <p:cNvSpPr/>
          <p:nvPr/>
        </p:nvSpPr>
        <p:spPr>
          <a:xfrm>
            <a:off x="457200" y="2917552"/>
            <a:ext cx="5643563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Twelve actions ordered by the deadline by which they stop being cheap — three horizons, one descope ladder, four conditions on the go decision.</a:t>
            </a:r>
            <a:endParaRPr lang="en-US" sz="1069" dirty="0"/>
          </a:p>
        </p:txBody>
      </p:sp>
      <p:sp>
        <p:nvSpPr>
          <p:cNvPr id="9" name="Text 5"/>
          <p:cNvSpPr/>
          <p:nvPr/>
        </p:nvSpPr>
        <p:spPr>
          <a:xfrm>
            <a:off x="457200" y="4419895"/>
            <a:ext cx="744289" cy="279206"/>
          </a:xfrm>
          <a:prstGeom prst="roundRect">
            <a:avLst>
              <a:gd name="adj" fmla="val 3408048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7200" y="4432697"/>
            <a:ext cx="74428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actions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301502" y="4419895"/>
            <a:ext cx="754447" cy="279206"/>
          </a:xfrm>
          <a:prstGeom prst="roundRect">
            <a:avLst>
              <a:gd name="adj" fmla="val 3408048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301502" y="4432697"/>
            <a:ext cx="75444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horizons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2155961" y="4419895"/>
            <a:ext cx="840730" cy="279206"/>
          </a:xfrm>
          <a:prstGeom prst="roundRect">
            <a:avLst>
              <a:gd name="adj" fmla="val 3408048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155961" y="4432697"/>
            <a:ext cx="84073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conditions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514350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Twelve actions across three horizons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32197" y="944314"/>
            <a:ext cx="2659819" cy="3352651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5769" y="947886"/>
            <a:ext cx="2652675" cy="267891"/>
          </a:xfrm>
          <a:prstGeom prst="rect">
            <a:avLst/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5769" y="947886"/>
            <a:ext cx="2652675" cy="240459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1–3 — Foundations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0069" y="1543273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0069" y="154327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8669" y="1536129"/>
            <a:ext cx="2291188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Freeze framing (A–D), RQ wording, descope ladder</a:t>
            </a:r>
            <a:endParaRPr lang="en-US" sz="731" dirty="0"/>
          </a:p>
        </p:txBody>
      </p:sp>
      <p:sp>
        <p:nvSpPr>
          <p:cNvPr id="10" name="Shape 8"/>
          <p:cNvSpPr/>
          <p:nvPr/>
        </p:nvSpPr>
        <p:spPr>
          <a:xfrm>
            <a:off x="550069" y="1995785"/>
            <a:ext cx="2424075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069" y="2056507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0069" y="2056507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8669" y="2049363"/>
            <a:ext cx="219547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Systematic-search protocol: queries, criteria, cutoff</a:t>
            </a:r>
            <a:endParaRPr lang="en-US" sz="731" dirty="0"/>
          </a:p>
        </p:txBody>
      </p:sp>
      <p:sp>
        <p:nvSpPr>
          <p:cNvPr id="14" name="Shape 12"/>
          <p:cNvSpPr/>
          <p:nvPr/>
        </p:nvSpPr>
        <p:spPr>
          <a:xfrm>
            <a:off x="550069" y="2509019"/>
            <a:ext cx="2424075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069" y="2569741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069" y="2569741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8669" y="2562597"/>
            <a:ext cx="2195475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Annotation guidelines + statistical analysis plan (power, seeds, IAA target)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0069" y="3117800"/>
            <a:ext cx="2424075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0069" y="3178522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0069" y="3178522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8669" y="3171379"/>
            <a:ext cx="2195475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Track C permissions; design Track A to stand alone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50069" y="3726582"/>
            <a:ext cx="2424075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069" y="3787304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069" y="3787304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8669" y="3780160"/>
            <a:ext cx="2195475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Graph-query spikes against the relational schema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3242035" y="944314"/>
            <a:ext cx="2659931" cy="3352651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245607" y="947886"/>
            <a:ext cx="2652787" cy="267891"/>
          </a:xfrm>
          <a:prstGeom prst="rect">
            <a:avLst/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245607" y="947886"/>
            <a:ext cx="2652787" cy="240459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2–3 — Momentum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9907" y="1645853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59907" y="164585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88507" y="1638709"/>
            <a:ext cx="2195587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Benchmark production cadence: 10 scenarios/week → 60–80 ready by month 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59907" y="2296604"/>
            <a:ext cx="2424187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9907" y="2357326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59907" y="235732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88507" y="2350182"/>
            <a:ext cx="219558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Pilot utility ablation on the first 20 scenarios</a:t>
            </a:r>
            <a:endParaRPr lang="en-US" sz="731" dirty="0"/>
          </a:p>
        </p:txBody>
      </p:sp>
      <p:sp>
        <p:nvSpPr>
          <p:cNvPr id="36" name="Shape 34"/>
          <p:cNvSpPr/>
          <p:nvPr/>
        </p:nvSpPr>
        <p:spPr>
          <a:xfrm>
            <a:off x="3359907" y="2912418"/>
            <a:ext cx="2424187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9907" y="2973139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59907" y="2973139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88507" y="2965996"/>
            <a:ext cx="219558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Co-assign the planner; prompt versioning, logging, cost accounting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59907" y="3623890"/>
            <a:ext cx="2424187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9907" y="3684612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59907" y="3684612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88507" y="3677469"/>
            <a:ext cx="2195587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 human evaluators (students and practitioners)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6051984" y="944314"/>
            <a:ext cx="2659819" cy="3352651"/>
          </a:xfrm>
          <a:prstGeom prst="roundRect">
            <a:avLst>
              <a:gd name="adj" fmla="val 3581"/>
            </a:avLst>
          </a:prstGeom>
          <a:solidFill>
            <a:srgbClr val="FFFFFF"/>
          </a:solidFill>
          <a:ln w="7144">
            <a:solidFill>
              <a:srgbClr val="D9E2E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055556" y="947886"/>
            <a:ext cx="2652675" cy="267891"/>
          </a:xfrm>
          <a:prstGeom prst="rect">
            <a:avLst/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055556" y="947886"/>
            <a:ext cx="2652675" cy="240459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5–6 — Endgame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69856" y="182813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69856" y="1828130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98456" y="1820987"/>
            <a:ext cx="2195475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Hold the what-not-to-build list; integrations as demo videos only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69856" y="2661158"/>
            <a:ext cx="2424075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9856" y="2721880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169856" y="2721880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398456" y="2714737"/>
            <a:ext cx="2195475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Publication: benchmark + strategy comparison as a short paper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69856" y="3622774"/>
            <a:ext cx="2424075" cy="584895"/>
          </a:xfrm>
          <a:prstGeom prst="roundRect">
            <a:avLst>
              <a:gd name="adj" fmla="val 13028"/>
            </a:avLst>
          </a:prstGeom>
          <a:solidFill>
            <a:srgbClr val="F7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6169856" y="3626346"/>
            <a:ext cx="2424075" cy="0"/>
          </a:xfrm>
          <a:prstGeom prst="line">
            <a:avLst/>
          </a:prstGeom>
          <a:noFill/>
          <a:ln w="7144">
            <a:solidFill>
              <a:srgbClr val="E8CD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90359" y="3622774"/>
            <a:ext cx="0" cy="584895"/>
          </a:xfrm>
          <a:prstGeom prst="line">
            <a:avLst/>
          </a:prstGeom>
          <a:noFill/>
          <a:ln w="7144">
            <a:solidFill>
              <a:srgbClr val="E8CD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69856" y="4204097"/>
            <a:ext cx="2424075" cy="0"/>
          </a:xfrm>
          <a:prstGeom prst="line">
            <a:avLst/>
          </a:prstGeom>
          <a:noFill/>
          <a:ln w="7144">
            <a:solidFill>
              <a:srgbClr val="E8CD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4143" y="3622774"/>
            <a:ext cx="0" cy="584895"/>
          </a:xfrm>
          <a:prstGeom prst="line">
            <a:avLst/>
          </a:prstGeom>
          <a:noFill/>
          <a:ln w="28575">
            <a:solidFill>
              <a:srgbClr val="C05B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4156" y="370671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C05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60" name="Text 58"/>
          <p:cNvSpPr/>
          <p:nvPr/>
        </p:nvSpPr>
        <p:spPr>
          <a:xfrm>
            <a:off x="6434175" y="3701355"/>
            <a:ext cx="2066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284156" y="3876377"/>
            <a:ext cx="157163" cy="157163"/>
          </a:xfrm>
          <a:prstGeom prst="roundRect">
            <a:avLst>
              <a:gd name="adj" fmla="val 6054526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284156" y="3876377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12756" y="3869234"/>
            <a:ext cx="1988307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Descope ladder as needed: N9 → N8 depth → N5 calibration → benchmark scale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32197" y="4418409"/>
            <a:ext cx="8279606" cy="321469"/>
          </a:xfrm>
          <a:prstGeom prst="roundRect">
            <a:avLst>
              <a:gd name="adj" fmla="val 29630"/>
            </a:avLst>
          </a:prstGeom>
          <a:solidFill>
            <a:srgbClr val="F7E8DF"/>
          </a:solidFill>
          <a:ln w="7144">
            <a:solidFill>
              <a:srgbClr val="E8CDB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78644" y="45005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5B2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66" name="Text 64"/>
          <p:cNvSpPr/>
          <p:nvPr/>
        </p:nvSpPr>
        <p:spPr>
          <a:xfrm>
            <a:off x="821531" y="4501679"/>
            <a:ext cx="7743825" cy="15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093A4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critical three: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21"/>
              </a:lnSpc>
              <a:buNone/>
            </a:pPr>
            <a:r>
              <a:rPr lang="en-US" sz="872" b="1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1, 3 and 6</a:t>
            </a:r>
            <a:pPr algn="l" indent="0" marL="0">
              <a:lnSpc>
                <a:spcPts val="122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freeze the contract, define the statistics, start the benchmark now.</a:t>
            </a:r>
            <a:endParaRPr lang="en-US" sz="87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0005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514350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Recommendation: proceed — under four conditions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122671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226716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771525" y="1169566"/>
            <a:ext cx="446339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Freeze the research contract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RQs and the minimum viable contribution locked before Phase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8625" y="1730685"/>
            <a:ext cx="480629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25" y="2005943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200594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771525" y="1948793"/>
            <a:ext cx="446339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Move the benchmark left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scenario production and annotation guidelines begin in month 2, not month 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8625" y="2509912"/>
            <a:ext cx="480629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625" y="2785170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8625" y="2785170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771525" y="2728020"/>
            <a:ext cx="446339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the statistics first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sample sizes, seeds and IAA thresholds before any data collection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8625" y="3289139"/>
            <a:ext cx="4806293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625" y="356439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E4F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8625" y="3564396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771525" y="3507246"/>
            <a:ext cx="4463393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Adopt the descope ladder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change-impact and requirement-debt features are sacrificed first, by rule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20655" y="955030"/>
            <a:ext cx="3294720" cy="1497732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20655" y="958602"/>
            <a:ext cx="329472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1803" y="955030"/>
            <a:ext cx="0" cy="1497732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20655" y="2449190"/>
            <a:ext cx="329472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4943" y="955030"/>
            <a:ext cx="0" cy="1497732"/>
          </a:xfrm>
          <a:prstGeom prst="line">
            <a:avLst/>
          </a:prstGeom>
          <a:noFill/>
          <a:ln w="28575">
            <a:solidFill>
              <a:srgbClr val="0E4F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2105" y="14180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4F5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5820705" y="1394817"/>
            <a:ext cx="274465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Never descoped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5592105" y="1669852"/>
            <a:ext cx="2973251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planner (N2)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Evidence model · </a:t>
            </a:r>
            <a:pPr algn="l" indent="0" marL="0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benchmark (N7)</a:t>
            </a:r>
            <a:endParaRPr lang="en-US" sz="872" dirty="0"/>
          </a:p>
        </p:txBody>
      </p:sp>
      <p:sp>
        <p:nvSpPr>
          <p:cNvPr id="27" name="Text 25"/>
          <p:cNvSpPr/>
          <p:nvPr/>
        </p:nvSpPr>
        <p:spPr>
          <a:xfrm>
            <a:off x="5420655" y="2567062"/>
            <a:ext cx="3294720" cy="1497732"/>
          </a:xfrm>
          <a:prstGeom prst="roundRect">
            <a:avLst>
              <a:gd name="adj" fmla="val 63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20655" y="2570634"/>
            <a:ext cx="329472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1803" y="2567062"/>
            <a:ext cx="0" cy="1497732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0655" y="4061222"/>
            <a:ext cx="329472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4943" y="2567062"/>
            <a:ext cx="0" cy="1497732"/>
          </a:xfrm>
          <a:prstGeom prst="line">
            <a:avLst/>
          </a:prstGeom>
          <a:noFill/>
          <a:ln w="28575">
            <a:solidFill>
              <a:srgbClr val="5E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92105" y="303006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5E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5820705" y="3006849"/>
            <a:ext cx="274465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1C2B3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Descoped in order</a:t>
            </a:r>
            <a:endParaRPr lang="en-US" sz="1069" dirty="0"/>
          </a:p>
        </p:txBody>
      </p:sp>
      <p:sp>
        <p:nvSpPr>
          <p:cNvPr id="34" name="Text 32"/>
          <p:cNvSpPr/>
          <p:nvPr/>
        </p:nvSpPr>
        <p:spPr>
          <a:xfrm>
            <a:off x="5592105" y="3281883"/>
            <a:ext cx="2973251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N9 Requirements time travel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N8 Change-propagation depth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N5 Debt-score calibration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5E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1C2B3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Benchmark scale</a:t>
            </a:r>
            <a:endParaRPr lang="en-US" sz="872" dirty="0"/>
          </a:p>
        </p:txBody>
      </p:sp>
      <p:sp>
        <p:nvSpPr>
          <p:cNvPr id="35" name="Shape 33"/>
          <p:cNvSpPr/>
          <p:nvPr/>
        </p:nvSpPr>
        <p:spPr>
          <a:xfrm>
            <a:off x="428625" y="4196953"/>
            <a:ext cx="8286750" cy="0"/>
          </a:xfrm>
          <a:prstGeom prst="line">
            <a:avLst/>
          </a:prstGeom>
          <a:noFill/>
          <a:ln w="7144">
            <a:solidFill>
              <a:srgbClr val="D9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688" y="4314825"/>
            <a:ext cx="7286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093A4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These conditions are not reservations about the idea — they are the discipline the document itself prescribes, applied to its own plan.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30034" y="-500062"/>
            <a:ext cx="2013966" cy="246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0"/>
              </a:lnSpc>
              <a:buNone/>
            </a:pPr>
            <a:r>
              <a:rPr lang="en-US" sz="18000" dirty="0">
                <a:solidFill>
                  <a:srgbClr val="FFFFFF">
                    <a:alpha val="6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</a:t>
            </a:r>
            <a:endParaRPr lang="en-US" sz="18000" dirty="0"/>
          </a:p>
        </p:txBody>
      </p:sp>
      <p:sp>
        <p:nvSpPr>
          <p:cNvPr id="5" name="Text 1"/>
          <p:cNvSpPr/>
          <p:nvPr/>
        </p:nvSpPr>
        <p:spPr>
          <a:xfrm>
            <a:off x="514350" y="1502085"/>
            <a:ext cx="7715250" cy="738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92"/>
              </a:lnSpc>
              <a:buNone/>
            </a:pPr>
            <a:r>
              <a:rPr lang="en-US" sz="1856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"No requirement gap is ever silently filled by a model — and no plan gap silently filled by optimism."</a:t>
            </a:r>
            <a:endParaRPr lang="en-US" sz="1856" dirty="0"/>
          </a:p>
        </p:txBody>
      </p:sp>
      <p:sp>
        <p:nvSpPr>
          <p:cNvPr id="6" name="Text 2"/>
          <p:cNvSpPr/>
          <p:nvPr/>
        </p:nvSpPr>
        <p:spPr>
          <a:xfrm>
            <a:off x="514350" y="2514265"/>
            <a:ext cx="6858000" cy="4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069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go · 4.0 / 5</a:t>
            </a:r>
            <a:pPr algn="l" indent="0" marL="0">
              <a:lnSpc>
                <a:spcPts val="1710"/>
              </a:lnSpc>
              <a:buNone/>
            </a:pPr>
            <a:r>
              <a:rPr lang="en-US" sz="1069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held to its own standard, RequirementPilot should be accepted with distinction and leave behind a citable benchmark and a replication-ready evaluation harness.</a:t>
            </a:r>
            <a:endParaRPr lang="en-US" sz="1069" dirty="0"/>
          </a:p>
        </p:txBody>
      </p:sp>
      <p:sp>
        <p:nvSpPr>
          <p:cNvPr id="7" name="Text 3"/>
          <p:cNvSpPr/>
          <p:nvPr/>
        </p:nvSpPr>
        <p:spPr>
          <a:xfrm>
            <a:off x="517922" y="3194931"/>
            <a:ext cx="2365028" cy="260747"/>
          </a:xfrm>
          <a:prstGeom prst="roundRect">
            <a:avLst>
              <a:gd name="adj" fmla="val 3649313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033388" y="3269940"/>
            <a:ext cx="1895996" cy="126609"/>
          </a:xfrm>
          <a:prstGeom prst="rect">
            <a:avLst/>
          </a:prstGeom>
          <a:noFill/>
          <a:ln/>
        </p:spPr>
        <p:txBody>
          <a:bodyPr wrap="none" lIns="142875" tIns="57150" rIns="214313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60–80 scenarios + frozen RQs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64369" y="3255652"/>
            <a:ext cx="200069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2975818" y="3194931"/>
            <a:ext cx="1943100" cy="260747"/>
          </a:xfrm>
          <a:prstGeom prst="roundRect">
            <a:avLst>
              <a:gd name="adj" fmla="val 3649313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491285" y="3269940"/>
            <a:ext cx="147406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pilot ablation results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122265" y="3255652"/>
            <a:ext cx="15787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011787" y="3194931"/>
            <a:ext cx="2568178" cy="260747"/>
          </a:xfrm>
          <a:prstGeom prst="roundRect">
            <a:avLst>
              <a:gd name="adj" fmla="val 3649313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27253" y="3269940"/>
            <a:ext cx="2702347" cy="126609"/>
          </a:xfrm>
          <a:prstGeom prst="rect">
            <a:avLst/>
          </a:prstGeom>
          <a:noFill/>
          <a:ln/>
        </p:spPr>
        <p:txBody>
          <a:bodyPr wrap="none" lIns="142875" tIns="57150" rIns="214313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defense + short-paper submission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158234" y="3255652"/>
            <a:ext cx="22038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4350" y="4580930"/>
            <a:ext cx="400050" cy="28575"/>
          </a:xfrm>
          <a:prstGeom prst="roundRect">
            <a:avLst>
              <a:gd name="adj" fmla="val 66667"/>
            </a:avLst>
          </a:prstGeom>
          <a:solidFill>
            <a:srgbClr val="C05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014413" y="4504134"/>
            <a:ext cx="76152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>
                    <a:alpha val="95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Thank you — questions welcome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>
                    <a:alpha val="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__________</a:t>
            </a:r>
            <a:endParaRPr lang="en-US" sz="9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2026-10-02T23:11:59Z</dcterms:created>
  <dcterms:modified xsi:type="dcterms:W3CDTF">2026-10-02T23:11:59Z</dcterms:modified>
</cp:coreProperties>
</file>